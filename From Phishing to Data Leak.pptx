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isa.gov/resources-tools/resources/phishing-guidance-stopping-attack-cycle-phase-one" TargetMode="External"/><Relationship Id="rId3" Type="http://schemas.openxmlformats.org/officeDocument/2006/relationships/hyperlink" Target="https://inforegulator.org.za/2025/08/19/fact-sheet-handling-of-security-compromises/" TargetMode="External"/><Relationship Id="rId4" Type="http://schemas.openxmlformats.org/officeDocument/2006/relationships/hyperlink" Target="https://doi.org/10.6028/NIST.SP.800-61r3" TargetMode="External"/><Relationship Id="rId5" Type="http://schemas.openxmlformats.org/officeDocument/2006/relationships/hyperlink" Target="https://doi.org/10.6028/NIST.CSWP.29" TargetMode="External"/><Relationship Id="rId6" Type="http://schemas.openxmlformats.org/officeDocument/2006/relationships/hyperlink" Target="https://www.gov.za/documents/protection-personal-information-act" TargetMode="External"/><Relationship Id="rId7" Type="http://schemas.openxmlformats.org/officeDocument/2006/relationships/hyperlink" Target="https://doi.org/10.6028/NIST.SP.800-94" TargetMode="External"/><Relationship Id="rId8" Type="http://schemas.openxmlformats.org/officeDocument/2006/relationships/hyperlink" Target="https://www.verizon.com/business/resources/reports/2025-dbir-data-breach-investigations-report.pdf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51560"/>
            <a:ext cx="6537960" cy="2880360"/>
          </a:xfrm>
          <a:prstGeom prst="rect">
            <a:avLst/>
          </a:prstGeom>
          <a:noFill/>
        </p:spPr>
        <p:txBody>
          <a:bodyPr wrap="square" lIns="54864" rIns="54864" tIns="18288" bIns="18288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From Phishing to Data Leak: Securing University Online Registration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114800"/>
            <a:ext cx="6126480" cy="1051560"/>
          </a:xfrm>
          <a:prstGeom prst="rect">
            <a:avLst/>
          </a:prstGeom>
          <a:solidFill>
            <a:srgbClr val="8FE3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60520"/>
            <a:ext cx="5852160" cy="96012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143A"/>
                </a:solidFill>
                <a:latin typeface="Segoe UI"/>
              </a:rPr>
              <a:t>Cybersecurity Incident Response Consultancy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143A"/>
                </a:solidFill>
                <a:latin typeface="Segoe UI"/>
              </a:rPr>
              <a:t>| CMN03B1 Activity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49240"/>
            <a:ext cx="6126480" cy="45720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DE1FF"/>
                </a:solidFill>
                <a:latin typeface="Segoe UI"/>
              </a:rPr>
              <a:t>Group members: [names]</a:t>
            </a:r>
          </a:p>
        </p:txBody>
      </p:sp>
      <p:pic>
        <p:nvPicPr>
          <p:cNvPr id="6" name="Picture 5" descr="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312" y="0"/>
            <a:ext cx="512338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77724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Five incidents, one attack story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234440"/>
            <a:ext cx="2204313" cy="4709160"/>
          </a:xfrm>
          <a:prstGeom prst="rect">
            <a:avLst/>
          </a:prstGeom>
          <a:solidFill>
            <a:srgbClr val="1720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292608" y="1344168"/>
            <a:ext cx="2350617" cy="530352"/>
          </a:xfrm>
          <a:prstGeom prst="chevron">
            <a:avLst/>
          </a:prstGeom>
          <a:solidFill>
            <a:srgbClr val="FF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0143A"/>
                </a:solidFill>
                <a:latin typeface="Segoe UI"/>
              </a:rPr>
              <a:t>1</a:t>
            </a:r>
          </a:p>
        </p:txBody>
      </p:sp>
      <p:pic>
        <p:nvPicPr>
          <p:cNvPr id="5" name="Picture 4" descr="incident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002536"/>
            <a:ext cx="2003145" cy="11267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0624" y="3239033"/>
            <a:ext cx="2094585" cy="155448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Staff member enters credentials on phishing page → Initial access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2679801" y="1234440"/>
            <a:ext cx="2204313" cy="4709160"/>
          </a:xfrm>
          <a:prstGeom prst="rect">
            <a:avLst/>
          </a:prstGeom>
          <a:solidFill>
            <a:srgbClr val="1D29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hevron 7"/>
          <p:cNvSpPr/>
          <p:nvPr/>
        </p:nvSpPr>
        <p:spPr>
          <a:xfrm>
            <a:off x="2606649" y="1344168"/>
            <a:ext cx="2350617" cy="530352"/>
          </a:xfrm>
          <a:prstGeom prst="chevron">
            <a:avLst/>
          </a:prstGeom>
          <a:solidFill>
            <a:srgbClr val="FF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0143A"/>
                </a:solidFill>
                <a:latin typeface="Segoe UI"/>
              </a:rPr>
              <a:t>2</a:t>
            </a:r>
          </a:p>
        </p:txBody>
      </p:sp>
      <p:pic>
        <p:nvPicPr>
          <p:cNvPr id="9" name="Picture 8" descr="incident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385" y="2002536"/>
            <a:ext cx="2003145" cy="112676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34665" y="3239033"/>
            <a:ext cx="2094585" cy="155448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Unusual network traffic detected → Attacker activity / foothold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93843" y="1234440"/>
            <a:ext cx="2204313" cy="4709160"/>
          </a:xfrm>
          <a:prstGeom prst="rect">
            <a:avLst/>
          </a:prstGeom>
          <a:solidFill>
            <a:srgbClr val="1720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20691" y="1344168"/>
            <a:ext cx="2350617" cy="530352"/>
          </a:xfrm>
          <a:prstGeom prst="chevron">
            <a:avLst/>
          </a:prstGeom>
          <a:solidFill>
            <a:srgbClr val="FF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0143A"/>
                </a:solidFill>
                <a:latin typeface="Segoe UI"/>
              </a:rPr>
              <a:t>3</a:t>
            </a:r>
          </a:p>
        </p:txBody>
      </p:sp>
      <p:pic>
        <p:nvPicPr>
          <p:cNvPr id="13" name="Picture 12" descr="incident-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4427" y="2002536"/>
            <a:ext cx="2003145" cy="112676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48707" y="3239033"/>
            <a:ext cx="2094585" cy="155448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Users redirected to unexpected website → Traffic hijack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07884" y="1234440"/>
            <a:ext cx="2204313" cy="4709160"/>
          </a:xfrm>
          <a:prstGeom prst="rect">
            <a:avLst/>
          </a:prstGeom>
          <a:solidFill>
            <a:srgbClr val="1D29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234732" y="1344168"/>
            <a:ext cx="2350617" cy="530352"/>
          </a:xfrm>
          <a:prstGeom prst="chevron">
            <a:avLst/>
          </a:prstGeom>
          <a:solidFill>
            <a:srgbClr val="FF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0143A"/>
                </a:solidFill>
                <a:latin typeface="Segoe UI"/>
              </a:rPr>
              <a:t>4</a:t>
            </a:r>
          </a:p>
        </p:txBody>
      </p:sp>
      <p:pic>
        <p:nvPicPr>
          <p:cNvPr id="17" name="Picture 16" descr="incident-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8468" y="2002536"/>
            <a:ext cx="2003145" cy="112676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62748" y="3239033"/>
            <a:ext cx="2094585" cy="155448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Non-compliant laptop joins network → Weak endpoint control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21926" y="1234440"/>
            <a:ext cx="2204313" cy="4709160"/>
          </a:xfrm>
          <a:prstGeom prst="rect">
            <a:avLst/>
          </a:prstGeom>
          <a:solidFill>
            <a:srgbClr val="1720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9548774" y="1344168"/>
            <a:ext cx="2350617" cy="530352"/>
          </a:xfrm>
          <a:prstGeom prst="chevron">
            <a:avLst/>
          </a:prstGeom>
          <a:solidFill>
            <a:srgbClr val="FF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0143A"/>
                </a:solidFill>
                <a:latin typeface="Segoe UI"/>
              </a:rPr>
              <a:t>5</a:t>
            </a:r>
          </a:p>
        </p:txBody>
      </p:sp>
      <p:pic>
        <p:nvPicPr>
          <p:cNvPr id="21" name="Picture 20" descr="incident-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2510" y="2002536"/>
            <a:ext cx="2003145" cy="112676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676790" y="3239033"/>
            <a:ext cx="2094585" cy="155448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Confidential research emailed out → Data exfiltration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126480"/>
            <a:ext cx="11338560" cy="45720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Assumption: incidents may be linked. Whether or not they are, each exposes a different control gap.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77724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Threats and the concepts behind them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280160"/>
            <a:ext cx="3679951" cy="502920"/>
          </a:xfrm>
          <a:prstGeom prst="rect">
            <a:avLst/>
          </a:prstGeom>
          <a:solidFill>
            <a:srgbClr val="8FE3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3679951" cy="50292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143A"/>
                </a:solidFill>
                <a:latin typeface="Segoe UI"/>
              </a:rPr>
              <a:t>Threat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920240"/>
            <a:ext cx="3679951" cy="841248"/>
          </a:xfrm>
          <a:prstGeom prst="rect">
            <a:avLst/>
          </a:prstGeom>
          <a:solidFill>
            <a:srgbClr val="1720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1920240"/>
            <a:ext cx="3570223" cy="84124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Phishing / credential harvesting (social engineering)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816352"/>
            <a:ext cx="3679951" cy="841248"/>
          </a:xfrm>
          <a:prstGeom prst="rect">
            <a:avLst/>
          </a:prstGeom>
          <a:solidFill>
            <a:srgbClr val="1D29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2816352"/>
            <a:ext cx="3570223" cy="84124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Malware / compromised account activity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712464"/>
            <a:ext cx="3679951" cy="841248"/>
          </a:xfrm>
          <a:prstGeom prst="rect">
            <a:avLst/>
          </a:prstGeom>
          <a:solidFill>
            <a:srgbClr val="1720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" y="3712464"/>
            <a:ext cx="3570223" cy="84124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DNS poisoning / URL or domain hijacking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608576"/>
            <a:ext cx="3679951" cy="841248"/>
          </a:xfrm>
          <a:prstGeom prst="rect">
            <a:avLst/>
          </a:prstGeom>
          <a:solidFill>
            <a:srgbClr val="1D29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4608576"/>
            <a:ext cx="3570223" cy="84124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Non-compliant device on network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5504688"/>
            <a:ext cx="3679951" cy="841248"/>
          </a:xfrm>
          <a:prstGeom prst="rect">
            <a:avLst/>
          </a:prstGeom>
          <a:solidFill>
            <a:srgbClr val="1720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" y="5504688"/>
            <a:ext cx="3570223" cy="84124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Data exfiltration / insider threat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6023" y="1280160"/>
            <a:ext cx="3679951" cy="502920"/>
          </a:xfrm>
          <a:prstGeom prst="rect">
            <a:avLst/>
          </a:prstGeom>
          <a:solidFill>
            <a:srgbClr val="8FE3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6023" y="1280160"/>
            <a:ext cx="3679951" cy="50292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143A"/>
                </a:solidFill>
                <a:latin typeface="Segoe UI"/>
              </a:rPr>
              <a:t>Evidence in scenario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6023" y="1920240"/>
            <a:ext cx="3679951" cy="841248"/>
          </a:xfrm>
          <a:prstGeom prst="rect">
            <a:avLst/>
          </a:prstGeom>
          <a:solidFill>
            <a:srgbClr val="1720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0887" y="1920240"/>
            <a:ext cx="3570223" cy="84124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Staff entered credentials on fake page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6023" y="2816352"/>
            <a:ext cx="3679951" cy="841248"/>
          </a:xfrm>
          <a:prstGeom prst="rect">
            <a:avLst/>
          </a:prstGeom>
          <a:solidFill>
            <a:srgbClr val="1D29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0887" y="2816352"/>
            <a:ext cx="3570223" cy="84124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Unusual traffic; likely C&amp;C beaconing or lateral movement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6023" y="3712464"/>
            <a:ext cx="3679951" cy="841248"/>
          </a:xfrm>
          <a:prstGeom prst="rect">
            <a:avLst/>
          </a:prstGeom>
          <a:solidFill>
            <a:srgbClr val="1720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0887" y="3712464"/>
            <a:ext cx="3570223" cy="84124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Users sent to unexpected site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6023" y="4608576"/>
            <a:ext cx="3679951" cy="841248"/>
          </a:xfrm>
          <a:prstGeom prst="rect">
            <a:avLst/>
          </a:prstGeom>
          <a:solidFill>
            <a:srgbClr val="1D29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10887" y="4608576"/>
            <a:ext cx="3570223" cy="84124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Unpatched laptop connected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6023" y="5504688"/>
            <a:ext cx="3679951" cy="841248"/>
          </a:xfrm>
          <a:prstGeom prst="rect">
            <a:avLst/>
          </a:prstGeom>
          <a:solidFill>
            <a:srgbClr val="1720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0887" y="5504688"/>
            <a:ext cx="3570223" cy="84124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Research documents leave by email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00567" y="1280160"/>
            <a:ext cx="3679951" cy="502920"/>
          </a:xfrm>
          <a:prstGeom prst="rect">
            <a:avLst/>
          </a:prstGeom>
          <a:solidFill>
            <a:srgbClr val="8FE3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00567" y="1280160"/>
            <a:ext cx="3679951" cy="50292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143A"/>
                </a:solidFill>
                <a:latin typeface="Segoe UI"/>
              </a:rPr>
              <a:t>Course concept (LU)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00567" y="1920240"/>
            <a:ext cx="3679951" cy="841248"/>
          </a:xfrm>
          <a:prstGeom prst="rect">
            <a:avLst/>
          </a:prstGeom>
          <a:solidFill>
            <a:srgbClr val="1720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55431" y="1920240"/>
            <a:ext cx="3570223" cy="84124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Phishing, spear phishing, impersonation (LU2); 97% of attacks start with phishing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00567" y="2816352"/>
            <a:ext cx="3679951" cy="841248"/>
          </a:xfrm>
          <a:prstGeom prst="rect">
            <a:avLst/>
          </a:prstGeom>
          <a:solidFill>
            <a:srgbClr val="1D29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5431" y="2816352"/>
            <a:ext cx="3570223" cy="84124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Trojan, botnet, C&amp;C over HTTP (LU2); MITM, ARP poisoning (LU4)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00567" y="3712464"/>
            <a:ext cx="3679951" cy="841248"/>
          </a:xfrm>
          <a:prstGeom prst="rect">
            <a:avLst/>
          </a:prstGeom>
          <a:solidFill>
            <a:srgbClr val="1720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55431" y="3712464"/>
            <a:ext cx="3570223" cy="84124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DNS poisoning, typosquatting, domain hijacking (LU4)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00567" y="4608576"/>
            <a:ext cx="3679951" cy="841248"/>
          </a:xfrm>
          <a:prstGeom prst="rect">
            <a:avLst/>
          </a:prstGeom>
          <a:solidFill>
            <a:srgbClr val="1D29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55431" y="4608576"/>
            <a:ext cx="3570223" cy="84124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Vulnerability, malware spread, BYOD risk (LU1, LU2)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00567" y="5504688"/>
            <a:ext cx="3679951" cy="841248"/>
          </a:xfrm>
          <a:prstGeom prst="rect">
            <a:avLst/>
          </a:prstGeom>
          <a:solidFill>
            <a:srgbClr val="1720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5431" y="5504688"/>
            <a:ext cx="3570223" cy="84124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Data theft, confidentiality, insider threat (LU1)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77724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What is exposed, why, and what it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FE3C0"/>
                </a:solidFill>
                <a:latin typeface="Segoe UI"/>
              </a:rPr>
              <a:t>Impact lens = Confidentiality, Integrity, Availability (CIA)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554480"/>
          <a:ext cx="113385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2880360"/>
                <a:gridCol w="3154680"/>
                <a:gridCol w="3337560"/>
              </a:tblGrid>
              <a:tr h="8077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0143A"/>
                          </a:solidFill>
                          <a:latin typeface="Segoe UI"/>
                        </a:rPr>
                        <a:t>Threat</a:t>
                      </a:r>
                    </a:p>
                  </a:txBody>
                  <a:tcPr anchor="ctr">
                    <a:solidFill>
                      <a:srgbClr val="8FE3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0143A"/>
                          </a:solidFill>
                          <a:latin typeface="Segoe UI"/>
                        </a:rPr>
                        <a:t>Asset</a:t>
                      </a:r>
                    </a:p>
                  </a:txBody>
                  <a:tcPr anchor="ctr">
                    <a:solidFill>
                      <a:srgbClr val="8FE3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0143A"/>
                          </a:solidFill>
                          <a:latin typeface="Segoe UI"/>
                        </a:rPr>
                        <a:t>Vulnerability</a:t>
                      </a:r>
                    </a:p>
                  </a:txBody>
                  <a:tcPr anchor="ctr">
                    <a:solidFill>
                      <a:srgbClr val="8FE3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0143A"/>
                          </a:solidFill>
                          <a:latin typeface="Segoe UI"/>
                        </a:rPr>
                        <a:t>Consequence</a:t>
                      </a:r>
                    </a:p>
                  </a:txBody>
                  <a:tcPr anchor="ctr">
                    <a:solidFill>
                      <a:srgbClr val="8FE3C0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Segoe UI"/>
                        </a:rPr>
                        <a:t>Phishing</a:t>
                      </a:r>
                    </a:p>
                  </a:txBody>
                  <a:tcPr anchor="ctr" marL="73152" marR="54864">
                    <a:solidFill>
                      <a:srgbClr val="1720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Segoe UI"/>
                        </a:rPr>
                        <a:t>Staff credentials, registration system</a:t>
                      </a:r>
                    </a:p>
                  </a:txBody>
                  <a:tcPr anchor="ctr" marL="73152" marR="54864">
                    <a:solidFill>
                      <a:srgbClr val="1720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Segoe UI"/>
                        </a:rPr>
                        <a:t>No MFA, weak email filtering, low awareness</a:t>
                      </a:r>
                    </a:p>
                  </a:txBody>
                  <a:tcPr anchor="ctr" marL="73152" marR="54864">
                    <a:solidFill>
                      <a:srgbClr val="1720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Segoe UI"/>
                        </a:rPr>
                        <a:t>Account takeover, fraudulent registrations</a:t>
                      </a:r>
                    </a:p>
                  </a:txBody>
                  <a:tcPr anchor="ctr" marL="73152" marR="54864">
                    <a:solidFill>
                      <a:srgbClr val="172044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Segoe UI"/>
                        </a:rPr>
                        <a:t>Suspicious traffic</a:t>
                      </a:r>
                    </a:p>
                  </a:txBody>
                  <a:tcPr anchor="ctr" marL="73152" marR="54864">
                    <a:solidFill>
                      <a:srgbClr val="1D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Segoe UI"/>
                        </a:rPr>
                        <a:t>Network, servers, student records</a:t>
                      </a:r>
                    </a:p>
                  </a:txBody>
                  <a:tcPr anchor="ctr" marL="73152" marR="54864">
                    <a:solidFill>
                      <a:srgbClr val="1D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Segoe UI"/>
                        </a:rPr>
                        <a:t>Flat network, limited monitoring</a:t>
                      </a:r>
                    </a:p>
                  </a:txBody>
                  <a:tcPr anchor="ctr" marL="73152" marR="54864">
                    <a:solidFill>
                      <a:srgbClr val="1D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Segoe UI"/>
                        </a:rPr>
                        <a:t>Undetected lateral movement, downtime in registration</a:t>
                      </a:r>
                    </a:p>
                  </a:txBody>
                  <a:tcPr anchor="ctr" marL="73152" marR="54864">
                    <a:solidFill>
                      <a:srgbClr val="1D294D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Segoe UI"/>
                        </a:rPr>
                        <a:t>Redirection</a:t>
                      </a:r>
                    </a:p>
                  </a:txBody>
                  <a:tcPr anchor="ctr" marL="73152" marR="54864">
                    <a:solidFill>
                      <a:srgbClr val="1720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Segoe UI"/>
                        </a:rPr>
                        <a:t>Student logins, portal reputation</a:t>
                      </a:r>
                    </a:p>
                  </a:txBody>
                  <a:tcPr anchor="ctr" marL="73152" marR="54864">
                    <a:solidFill>
                      <a:srgbClr val="1720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Segoe UI"/>
                        </a:rPr>
                        <a:t>Unprotected DNS, no web filtering</a:t>
                      </a:r>
                    </a:p>
                  </a:txBody>
                  <a:tcPr anchor="ctr" marL="73152" marR="54864">
                    <a:solidFill>
                      <a:srgbClr val="1720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Segoe UI"/>
                        </a:rPr>
                        <a:t>Credential theft, loss of trust</a:t>
                      </a:r>
                    </a:p>
                  </a:txBody>
                  <a:tcPr anchor="ctr" marL="73152" marR="54864">
                    <a:solidFill>
                      <a:srgbClr val="172044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Segoe UI"/>
                        </a:rPr>
                        <a:t>Non-compliant laptop</a:t>
                      </a:r>
                    </a:p>
                  </a:txBody>
                  <a:tcPr anchor="ctr" marL="73152" marR="54864">
                    <a:solidFill>
                      <a:srgbClr val="1D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Segoe UI"/>
                        </a:rPr>
                        <a:t>Internal network, all connected devices</a:t>
                      </a:r>
                    </a:p>
                  </a:txBody>
                  <a:tcPr anchor="ctr" marL="73152" marR="54864">
                    <a:solidFill>
                      <a:srgbClr val="1D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Segoe UI"/>
                        </a:rPr>
                        <a:t>No posture check before access</a:t>
                      </a:r>
                    </a:p>
                  </a:txBody>
                  <a:tcPr anchor="ctr" marL="73152" marR="54864">
                    <a:solidFill>
                      <a:srgbClr val="1D29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Segoe UI"/>
                        </a:rPr>
                        <a:t>Malware spreads to other systems</a:t>
                      </a:r>
                    </a:p>
                  </a:txBody>
                  <a:tcPr anchor="ctr" marL="73152" marR="54864">
                    <a:solidFill>
                      <a:srgbClr val="1D294D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Segoe UI"/>
                        </a:rPr>
                        <a:t>Email leak</a:t>
                      </a:r>
                    </a:p>
                  </a:txBody>
                  <a:tcPr anchor="ctr" marL="73152" marR="54864">
                    <a:solidFill>
                      <a:srgbClr val="1720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Segoe UI"/>
                        </a:rPr>
                        <a:t>Research IP, personal information</a:t>
                      </a:r>
                    </a:p>
                  </a:txBody>
                  <a:tcPr anchor="ctr" marL="73152" marR="54864">
                    <a:solidFill>
                      <a:srgbClr val="1720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Segoe UI"/>
                        </a:rPr>
                        <a:t>No content inspection, no data classification</a:t>
                      </a:r>
                    </a:p>
                  </a:txBody>
                  <a:tcPr anchor="ctr" marL="73152" marR="54864">
                    <a:solidFill>
                      <a:srgbClr val="1720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Segoe UI"/>
                        </a:rPr>
                        <a:t>IP loss, POPIA non-compliance, fines, reputational damage</a:t>
                      </a:r>
                    </a:p>
                  </a:txBody>
                  <a:tcPr anchor="ctr" marL="73152" marR="54864">
                    <a:solidFill>
                      <a:srgbClr val="1720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77724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</a:rPr>
              <a:t>Seven controls, each chosen for a reason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70432"/>
            <a:ext cx="11430000" cy="676656"/>
          </a:xfrm>
          <a:prstGeom prst="rect">
            <a:avLst/>
          </a:prstGeom>
          <a:solidFill>
            <a:srgbClr val="1720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170432"/>
            <a:ext cx="566928" cy="676656"/>
          </a:xfrm>
          <a:prstGeom prst="rect">
            <a:avLst/>
          </a:prstGeom>
          <a:solidFill>
            <a:srgbClr val="8FE3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566928" cy="676656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143A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1188720"/>
            <a:ext cx="3931920" cy="64008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Mail gateway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188720"/>
            <a:ext cx="2286000" cy="64008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FE3C0"/>
                </a:solidFill>
                <a:latin typeface="Segoe UI"/>
              </a:rPr>
              <a:t>Phishing, leaks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188720"/>
            <a:ext cx="4434840" cy="64008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Stops the attack at the entry point; users cannot be the only filter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01952"/>
            <a:ext cx="11430000" cy="676656"/>
          </a:xfrm>
          <a:prstGeom prst="rect">
            <a:avLst/>
          </a:prstGeom>
          <a:solidFill>
            <a:srgbClr val="1D29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901952"/>
            <a:ext cx="566928" cy="676656"/>
          </a:xfrm>
          <a:prstGeom prst="rect">
            <a:avLst/>
          </a:prstGeom>
          <a:solidFill>
            <a:srgbClr val="8FE3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01952"/>
            <a:ext cx="566928" cy="676656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143A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920240"/>
            <a:ext cx="3931920" cy="64008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MFA + phishing awareness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920240"/>
            <a:ext cx="2286000" cy="64008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FE3C0"/>
                </a:solidFill>
                <a:latin typeface="Segoe UI"/>
              </a:rPr>
              <a:t>Stolen credentials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920240"/>
            <a:ext cx="4434840" cy="64008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Makes a stolen password useless; training alone fails on convincing fakes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33472"/>
            <a:ext cx="11430000" cy="676656"/>
          </a:xfrm>
          <a:prstGeom prst="rect">
            <a:avLst/>
          </a:prstGeom>
          <a:solidFill>
            <a:srgbClr val="1720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633472"/>
            <a:ext cx="566928" cy="676656"/>
          </a:xfrm>
          <a:prstGeom prst="rect">
            <a:avLst/>
          </a:prstGeom>
          <a:solidFill>
            <a:srgbClr val="8FE3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633472"/>
            <a:ext cx="566928" cy="676656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143A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2651760"/>
            <a:ext cx="3931920" cy="64008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Network Access Control (NAC)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651760"/>
            <a:ext cx="2286000" cy="64008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FE3C0"/>
                </a:solidFill>
                <a:latin typeface="Segoe UI"/>
              </a:rPr>
              <a:t>Non-compliant laptop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651760"/>
            <a:ext cx="4434840" cy="64008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Checks health before access and quarantines; a firewall alone cannot judge device state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364991"/>
            <a:ext cx="11430000" cy="676656"/>
          </a:xfrm>
          <a:prstGeom prst="rect">
            <a:avLst/>
          </a:prstGeom>
          <a:solidFill>
            <a:srgbClr val="1D29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364991"/>
            <a:ext cx="566928" cy="676656"/>
          </a:xfrm>
          <a:prstGeom prst="rect">
            <a:avLst/>
          </a:prstGeom>
          <a:solidFill>
            <a:srgbClr val="8FE3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364991"/>
            <a:ext cx="566928" cy="676656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143A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3383279"/>
            <a:ext cx="3931920" cy="64008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Data Loss Prevention (DLP)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383279"/>
            <a:ext cx="2286000" cy="64008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FE3C0"/>
                </a:solidFill>
                <a:latin typeface="Segoe UI"/>
              </a:rPr>
              <a:t>Research leaving by email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383279"/>
            <a:ext cx="4434840" cy="64008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Inspects content, sender, destination; encryption alone does not stop an authorised user sending data 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096511"/>
            <a:ext cx="11430000" cy="676656"/>
          </a:xfrm>
          <a:prstGeom prst="rect">
            <a:avLst/>
          </a:prstGeom>
          <a:solidFill>
            <a:srgbClr val="1720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096511"/>
            <a:ext cx="566928" cy="676656"/>
          </a:xfrm>
          <a:prstGeom prst="rect">
            <a:avLst/>
          </a:prstGeom>
          <a:solidFill>
            <a:srgbClr val="8FE3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096511"/>
            <a:ext cx="566928" cy="676656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143A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4114799"/>
            <a:ext cx="3931920" cy="64008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NIPS/IDS + SIEM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4114799"/>
            <a:ext cx="2286000" cy="64008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FE3C0"/>
                </a:solidFill>
                <a:latin typeface="Segoe UI"/>
              </a:rPr>
              <a:t>Unusual traffic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4114799"/>
            <a:ext cx="4434840" cy="64008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IPS blocks known attacks; SIEM correlates logs so isolated alerts become one incident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828031"/>
            <a:ext cx="11430000" cy="676656"/>
          </a:xfrm>
          <a:prstGeom prst="rect">
            <a:avLst/>
          </a:prstGeom>
          <a:solidFill>
            <a:srgbClr val="1D29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4828031"/>
            <a:ext cx="566928" cy="676656"/>
          </a:xfrm>
          <a:prstGeom prst="rect">
            <a:avLst/>
          </a:prstGeom>
          <a:solidFill>
            <a:srgbClr val="8FE3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828031"/>
            <a:ext cx="566928" cy="676656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143A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4846319"/>
            <a:ext cx="3931920" cy="64008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Secure DNS + web security gateway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4846319"/>
            <a:ext cx="2286000" cy="64008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FE3C0"/>
                </a:solidFill>
                <a:latin typeface="Segoe UI"/>
              </a:rPr>
              <a:t>Redirection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4846319"/>
            <a:ext cx="4434840" cy="64008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Fixes the cause of the redirect and blocks malicious sites in real time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559551"/>
            <a:ext cx="11430000" cy="676656"/>
          </a:xfrm>
          <a:prstGeom prst="rect">
            <a:avLst/>
          </a:prstGeom>
          <a:solidFill>
            <a:srgbClr val="1720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5559551"/>
            <a:ext cx="566928" cy="676656"/>
          </a:xfrm>
          <a:prstGeom prst="rect">
            <a:avLst/>
          </a:prstGeom>
          <a:solidFill>
            <a:srgbClr val="8FE3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559551"/>
            <a:ext cx="566928" cy="676656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143A"/>
                </a:solidFill>
                <a:latin typeface="Segoe UI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" y="5577839"/>
            <a:ext cx="3931920" cy="64008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VLAN segmentation + DMZ + firewall ACLs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5577839"/>
            <a:ext cx="2286000" cy="64008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FE3C0"/>
                </a:solidFill>
                <a:latin typeface="Segoe UI"/>
              </a:rPr>
              <a:t>Spread of compromise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5577839"/>
            <a:ext cx="4434840" cy="64008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Limits blast radius; research and registration cannot be reached from any compromised laptop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77724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</a:rPr>
              <a:t>Security architecture (labelled)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43000"/>
            <a:ext cx="11338560" cy="4892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115568"/>
            <a:ext cx="11393424" cy="4946903"/>
          </a:xfrm>
          <a:prstGeom prst="rect">
            <a:avLst/>
          </a:prstGeom>
          <a:solidFill>
            <a:srgbClr val="8FE3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1170432"/>
            <a:ext cx="11283696" cy="4837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387" y="1216152"/>
            <a:ext cx="5210744" cy="47457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126480"/>
            <a:ext cx="11338560" cy="50292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DE1FF"/>
                </a:solidFill>
                <a:latin typeface="Segoe UI"/>
              </a:rPr>
              <a:t>Legend numbers match Slide 5 controls (1 Mail gateway, 3 NAC, 4 DLP, 5 NIPS and SIEM, 6 Secure DNS, 7 VLAN/DMZ/firewall).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77724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How the controls work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325880"/>
            <a:ext cx="2755391" cy="4160520"/>
          </a:xfrm>
          <a:prstGeom prst="rect">
            <a:avLst/>
          </a:prstGeom>
          <a:solidFill>
            <a:srgbClr val="1720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2755391" cy="73152"/>
          </a:xfrm>
          <a:prstGeom prst="rect">
            <a:avLst/>
          </a:prstGeom>
          <a:solidFill>
            <a:srgbClr val="8FE3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2572511" cy="82296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FE3C0"/>
                </a:solidFill>
                <a:latin typeface="Segoe UI"/>
              </a:rPr>
              <a:t>Prevent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2468880"/>
            <a:ext cx="2535935" cy="32004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FE3C0"/>
                </a:solidFill>
                <a:latin typeface="Segoe UI"/>
              </a:rPr>
              <a:t>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2788920"/>
            <a:ext cx="2535935" cy="10515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Mail gateway, MFA, firewall/ACLs, secure DNS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3886200"/>
            <a:ext cx="2535935" cy="32004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FE3C0"/>
                </a:solidFill>
                <a:latin typeface="Segoe UI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4206240"/>
            <a:ext cx="2535935" cy="10515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Block phishing, stolen logins and bad redirects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7455" y="1325880"/>
            <a:ext cx="2755391" cy="4160520"/>
          </a:xfrm>
          <a:prstGeom prst="rect">
            <a:avLst/>
          </a:prstGeom>
          <a:solidFill>
            <a:srgbClr val="1D29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67455" y="1325880"/>
            <a:ext cx="2755391" cy="73152"/>
          </a:xfrm>
          <a:prstGeom prst="rect">
            <a:avLst/>
          </a:prstGeom>
          <a:solidFill>
            <a:srgbClr val="8FE3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8895" y="1554480"/>
            <a:ext cx="2572511" cy="82296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FE3C0"/>
                </a:solidFill>
                <a:latin typeface="Segoe UI"/>
              </a:rPr>
              <a:t>Detect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7183" y="2468880"/>
            <a:ext cx="2535935" cy="32004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FE3C0"/>
                </a:solidFill>
                <a:latin typeface="Segoe UI"/>
              </a:rPr>
              <a:t>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7183" y="2788920"/>
            <a:ext cx="2535935" cy="10515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NIPS/IDS, SIEM, DLP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183" y="3886200"/>
            <a:ext cx="2535935" cy="32004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FE3C0"/>
                </a:solidFill>
                <a:latin typeface="Segoe UI"/>
              </a:rPr>
              <a:t>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7183" y="4206240"/>
            <a:ext cx="2535935" cy="10515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See abnormal traffic and data movement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9151" y="1325880"/>
            <a:ext cx="2755391" cy="4160520"/>
          </a:xfrm>
          <a:prstGeom prst="rect">
            <a:avLst/>
          </a:prstGeom>
          <a:solidFill>
            <a:srgbClr val="1720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9151" y="1325880"/>
            <a:ext cx="2755391" cy="73152"/>
          </a:xfrm>
          <a:prstGeom prst="rect">
            <a:avLst/>
          </a:prstGeom>
          <a:solidFill>
            <a:srgbClr val="8FE3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0591" y="1554480"/>
            <a:ext cx="2572511" cy="82296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FE3C0"/>
                </a:solidFill>
                <a:latin typeface="Segoe UI"/>
              </a:rPr>
              <a:t>Contain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79" y="2468880"/>
            <a:ext cx="2535935" cy="32004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FE3C0"/>
                </a:solidFill>
                <a:latin typeface="Segoe UI"/>
              </a:rPr>
              <a:t>Controls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879" y="2788920"/>
            <a:ext cx="2535935" cy="10515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NAC quarantine VLAN, segmentation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879" y="3886200"/>
            <a:ext cx="2535935" cy="32004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FE3C0"/>
                </a:solidFill>
                <a:latin typeface="Segoe UI"/>
              </a:rPr>
              <a:t>Role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879" y="4206240"/>
            <a:ext cx="2535935" cy="10515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Isolate bad devices and stop lateral movement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0847" y="1325880"/>
            <a:ext cx="2755391" cy="4160520"/>
          </a:xfrm>
          <a:prstGeom prst="rect">
            <a:avLst/>
          </a:prstGeom>
          <a:solidFill>
            <a:srgbClr val="1D29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0847" y="1325880"/>
            <a:ext cx="2755391" cy="73152"/>
          </a:xfrm>
          <a:prstGeom prst="rect">
            <a:avLst/>
          </a:prstGeom>
          <a:solidFill>
            <a:srgbClr val="8FE3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7" y="1554480"/>
            <a:ext cx="2572511" cy="82296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FE3C0"/>
                </a:solidFill>
                <a:latin typeface="Segoe UI"/>
              </a:rPr>
              <a:t>Protect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575" y="2468880"/>
            <a:ext cx="2535935" cy="32004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FE3C0"/>
                </a:solidFill>
                <a:latin typeface="Segoe UI"/>
              </a:rPr>
              <a:t>Controls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5" y="2788920"/>
            <a:ext cx="2535935" cy="10515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DLP, encryption (TLS for email, AES at rest), least privilege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5" y="3886200"/>
            <a:ext cx="2535935" cy="32004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FE3C0"/>
                </a:solidFill>
                <a:latin typeface="Segoe UI"/>
              </a:rPr>
              <a:t>Role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5" y="4206240"/>
            <a:ext cx="2535935" cy="10515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Keep research confidential even if a layer fails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669280"/>
            <a:ext cx="11338560" cy="77724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Defence in depth (layering + diversity): no single failure exposes research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77724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Prioritised action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325880"/>
            <a:ext cx="3710431" cy="4937760"/>
          </a:xfrm>
          <a:prstGeom prst="rect">
            <a:avLst/>
          </a:prstGeom>
          <a:solidFill>
            <a:srgbClr val="8FE3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3436111" cy="10515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143A"/>
                </a:solidFill>
                <a:latin typeface="Segoe UI"/>
              </a:rPr>
              <a:t>Immediate (0-72 hours): Contain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51760"/>
            <a:ext cx="3436111" cy="329184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0143A"/>
                </a:solidFill>
                <a:latin typeface="Segoe UI"/>
              </a:rPr>
              <a:t>•  Reset phished credentials, revoke sessions, enforce MFA on admin/registration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0143A"/>
                </a:solidFill>
                <a:latin typeface="Segoe UI"/>
              </a:rPr>
              <a:t>•  Quarantine the laptop; block the outbound leak path; preserve logs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0143A"/>
                </a:solidFill>
                <a:latin typeface="Segoe UI"/>
              </a:rPr>
              <a:t>•  Check DNS records and flush caches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40783" y="1325880"/>
            <a:ext cx="3710431" cy="4937760"/>
          </a:xfrm>
          <a:prstGeom prst="rect">
            <a:avLst/>
          </a:prstGeom>
          <a:solidFill>
            <a:srgbClr val="1D29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77943" y="1463040"/>
            <a:ext cx="3436111" cy="10515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Short-term (1-3 months): Prevent and detect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7943" y="2651760"/>
            <a:ext cx="3436111" cy="329184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•  Deploy mail gateway, NAC, DNS hardening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•  Deploy IPS/IDS and SIEM with tuned alerts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•  Run phishing awareness training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5807" y="1325880"/>
            <a:ext cx="3710431" cy="4937760"/>
          </a:xfrm>
          <a:prstGeom prst="rect">
            <a:avLst/>
          </a:prstGeom>
          <a:solidFill>
            <a:srgbClr val="1720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2967" y="1463040"/>
            <a:ext cx="3436111" cy="10515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Longer-term (3-12 months): Mature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2967" y="2651760"/>
            <a:ext cx="3436111" cy="329184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•  Re-segment network, with a dedicated research VLAN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•  Full DLP rollout after data classification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•  Incident response plan, tabletop exercises, align to NIST CSF / ISO 27001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7680960" cy="105156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Why this order, and what it costs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463040"/>
            <a:ext cx="7818120" cy="1143000"/>
          </a:xfrm>
          <a:prstGeom prst="rect">
            <a:avLst/>
          </a:prstGeom>
          <a:solidFill>
            <a:srgbClr val="1D29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36192"/>
            <a:ext cx="7543800" cy="100584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Contain before prevent, prevent before mature: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an active incident must be stopped first, then the entry points closed, then structure improved.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724912"/>
            <a:ext cx="7818120" cy="1143000"/>
          </a:xfrm>
          <a:prstGeom prst="rect">
            <a:avLst/>
          </a:prstGeom>
          <a:solidFill>
            <a:srgbClr val="8FE3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98064"/>
            <a:ext cx="7543800" cy="100584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143A"/>
                </a:solidFill>
                <a:latin typeface="Segoe UI"/>
              </a:rPr>
              <a:t>Low cost, high impact first: </a:t>
            </a:r>
            <a:r>
              <a:rPr sz="1500" b="0" i="0">
                <a:solidFill>
                  <a:srgbClr val="10143A"/>
                </a:solidFill>
                <a:latin typeface="Segoe UI"/>
              </a:rPr>
              <a:t>MFA and quarantine are cheap and cut the most risk quickly.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986783"/>
            <a:ext cx="7818120" cy="1143000"/>
          </a:xfrm>
          <a:prstGeom prst="rect">
            <a:avLst/>
          </a:prstGeom>
          <a:solidFill>
            <a:srgbClr val="1720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059935"/>
            <a:ext cx="7543800" cy="100584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Dependencies: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SIEM needs log sources deployed first; DLP needs classified data first.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248655"/>
            <a:ext cx="7818120" cy="1143000"/>
          </a:xfrm>
          <a:prstGeom prst="rect">
            <a:avLst/>
          </a:prstGeom>
          <a:solidFill>
            <a:srgbClr val="1D29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321807"/>
            <a:ext cx="7543800" cy="100584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Trade-off: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NAC and MFA add friction at registration peaks. Managed by phased rollout, off-peak enforcement, a helpdesk surge team and clear user communication.</a:t>
            </a:r>
          </a:p>
        </p:txBody>
      </p:sp>
      <p:pic>
        <p:nvPicPr>
          <p:cNvPr id="11" name="Picture 10" descr="why.jpg"/>
          <p:cNvPicPr>
            <a:picLocks noChangeAspect="1"/>
          </p:cNvPicPr>
          <p:nvPr/>
        </p:nvPicPr>
        <p:blipFill>
          <a:blip r:embed="rId2"/>
          <a:srcRect l="13000" r="13000"/>
          <a:stretch>
            <a:fillRect/>
          </a:stretch>
        </p:blipFill>
        <p:spPr>
          <a:xfrm>
            <a:off x="8412480" y="0"/>
            <a:ext cx="37792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7680960" cy="77724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88720"/>
            <a:ext cx="7818120" cy="1143000"/>
          </a:xfrm>
          <a:prstGeom prst="rect">
            <a:avLst/>
          </a:prstGeom>
          <a:solidFill>
            <a:srgbClr val="1D29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444752"/>
            <a:ext cx="777240" cy="640080"/>
          </a:xfrm>
          <a:prstGeom prst="rect">
            <a:avLst/>
          </a:prstGeom>
          <a:solidFill>
            <a:srgbClr val="8FE3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777240" cy="64008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143A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298448"/>
            <a:ext cx="6583680" cy="93268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One phished password can start a chain of incidents; people are the first target.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468880"/>
            <a:ext cx="7818120" cy="1143000"/>
          </a:xfrm>
          <a:prstGeom prst="rect">
            <a:avLst/>
          </a:prstGeom>
          <a:solidFill>
            <a:srgbClr val="1720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724912"/>
            <a:ext cx="777240" cy="640080"/>
          </a:xfrm>
          <a:prstGeom prst="rect">
            <a:avLst/>
          </a:prstGeom>
          <a:solidFill>
            <a:srgbClr val="8FE3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24912"/>
            <a:ext cx="777240" cy="64008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143A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578608"/>
            <a:ext cx="6583680" cy="93268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No single control is enough; layered, diverse controls contain failure.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49039"/>
            <a:ext cx="7818120" cy="1143000"/>
          </a:xfrm>
          <a:prstGeom prst="rect">
            <a:avLst/>
          </a:prstGeom>
          <a:solidFill>
            <a:srgbClr val="1D29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005072"/>
            <a:ext cx="777240" cy="640080"/>
          </a:xfrm>
          <a:prstGeom prst="rect">
            <a:avLst/>
          </a:prstGeom>
          <a:solidFill>
            <a:srgbClr val="8FE3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005072"/>
            <a:ext cx="777240" cy="64008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143A"/>
                </a:solidFill>
                <a:latin typeface="Segoe U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858768"/>
            <a:ext cx="6583680" cy="93268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Act in order: contain now, prevent next, mature over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120640"/>
            <a:ext cx="7680960" cy="109728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8FE3C0"/>
                </a:solidFill>
                <a:latin typeface="Segoe UI"/>
              </a:rPr>
              <a:t>Questions?</a:t>
            </a:r>
          </a:p>
        </p:txBody>
      </p:sp>
      <p:pic>
        <p:nvPicPr>
          <p:cNvPr id="16" name="Picture 15" descr="takeaways.jpg"/>
          <p:cNvPicPr>
            <a:picLocks noChangeAspect="1"/>
          </p:cNvPicPr>
          <p:nvPr/>
        </p:nvPicPr>
        <p:blipFill>
          <a:blip r:embed="rId2"/>
          <a:srcRect l="13000" r="13000"/>
          <a:stretch>
            <a:fillRect/>
          </a:stretch>
        </p:blipFill>
        <p:spPr>
          <a:xfrm>
            <a:off x="8412480" y="0"/>
            <a:ext cx="37792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77724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43000"/>
            <a:ext cx="365760" cy="65836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E3C0"/>
                </a:solidFill>
                <a:latin typeface="Segoe UI"/>
              </a:rPr>
              <a:t>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972800" cy="65836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Ciampa, M. (2018) </a:t>
            </a:r>
            <a:r>
              <a:rPr sz="1100" b="0" i="1">
                <a:solidFill>
                  <a:srgbClr val="FFFFFF"/>
                </a:solidFill>
                <a:latin typeface="Segoe UI"/>
              </a:rPr>
              <a:t>CompTIA Security+ guide to network security fundamentals</a:t>
            </a:r>
            <a:r>
              <a:rPr sz="1100" b="0" i="0">
                <a:solidFill>
                  <a:srgbClr val="FFFFFF"/>
                </a:solidFill>
                <a:latin typeface="Segoe UI"/>
              </a:rPr>
              <a:t>. 6th edn. Boston: Cengage Learning.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801368"/>
            <a:ext cx="365760" cy="65836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E3C0"/>
                </a:solidFill>
                <a:latin typeface="Segoe UI"/>
              </a:rPr>
              <a:t>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01368"/>
            <a:ext cx="10972800" cy="65836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Cybersecurity and Infrastructure Security Agency, National Security Agency, Federal Bureau of Investigation and Multi-State Information Sharing and Analysis Center (2023) </a:t>
            </a:r>
            <a:r>
              <a:rPr sz="1100" b="0" i="1">
                <a:solidFill>
                  <a:srgbClr val="FFFFFF"/>
                </a:solidFill>
                <a:latin typeface="Segoe UI"/>
              </a:rPr>
              <a:t>Phishing guidance: stopping the attack cycle at phase one</a:t>
            </a:r>
            <a:r>
              <a:rPr sz="1100" b="0" i="0">
                <a:solidFill>
                  <a:srgbClr val="FFFFFF"/>
                </a:solidFill>
                <a:latin typeface="Segoe UI"/>
              </a:rPr>
              <a:t>. Available at: </a:t>
            </a:r>
            <a:r>
              <a:rPr sz="1100" b="0" i="0">
                <a:solidFill>
                  <a:srgbClr val="8FE3C0"/>
                </a:solidFill>
                <a:latin typeface="Segoe UI"/>
                <a:hlinkClick r:id="rId2"/>
              </a:rPr>
              <a:t>https://www.cisa.gov/resources-tools/resources/phishing-guidance-stopping-attack-cycle-phase-one</a:t>
            </a:r>
            <a:r>
              <a:rPr sz="1100" b="0" i="0">
                <a:solidFill>
                  <a:srgbClr val="FFFFFF"/>
                </a:solidFill>
                <a:latin typeface="Segoe UI"/>
              </a:rPr>
              <a:t> (Accessed: 8 October 2026).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459736"/>
            <a:ext cx="365760" cy="65836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E3C0"/>
                </a:solidFill>
                <a:latin typeface="Segoe UI"/>
              </a:rPr>
              <a:t>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59736"/>
            <a:ext cx="10972800" cy="65836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Information Regulator (South Africa) (2025) </a:t>
            </a:r>
            <a:r>
              <a:rPr sz="1100" b="0" i="1">
                <a:solidFill>
                  <a:srgbClr val="FFFFFF"/>
                </a:solidFill>
                <a:latin typeface="Segoe UI"/>
              </a:rPr>
              <a:t>Fact sheet: handling of security compromises</a:t>
            </a:r>
            <a:r>
              <a:rPr sz="1100" b="0" i="0">
                <a:solidFill>
                  <a:srgbClr val="FFFFFF"/>
                </a:solidFill>
                <a:latin typeface="Segoe UI"/>
              </a:rPr>
              <a:t>. Available at: </a:t>
            </a:r>
            <a:r>
              <a:rPr sz="1100" b="0" i="0">
                <a:solidFill>
                  <a:srgbClr val="8FE3C0"/>
                </a:solidFill>
                <a:latin typeface="Segoe UI"/>
                <a:hlinkClick r:id="rId3"/>
              </a:rPr>
              <a:t>https://inforegulator.org.za/2025/08/19/fact-sheet-handling-of-security-compromises/</a:t>
            </a:r>
            <a:r>
              <a:rPr sz="1100" b="0" i="0">
                <a:solidFill>
                  <a:srgbClr val="FFFFFF"/>
                </a:solidFill>
                <a:latin typeface="Segoe UI"/>
              </a:rPr>
              <a:t> (Accessed: 8 October 2026).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118104"/>
            <a:ext cx="365760" cy="65836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E3C0"/>
                </a:solidFill>
                <a:latin typeface="Segoe UI"/>
              </a:rPr>
              <a:t>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18104"/>
            <a:ext cx="10972800" cy="65836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National Institute of Standards and Technology (2025) </a:t>
            </a:r>
            <a:r>
              <a:rPr sz="1100" b="0" i="1">
                <a:solidFill>
                  <a:srgbClr val="FFFFFF"/>
                </a:solidFill>
                <a:latin typeface="Segoe UI"/>
              </a:rPr>
              <a:t>Incident response recommendations and considerations for cybersecurity risk management: a CSF 2.0 community profile</a:t>
            </a:r>
            <a:r>
              <a:rPr sz="1100" b="0" i="0">
                <a:solidFill>
                  <a:srgbClr val="FFFFFF"/>
                </a:solidFill>
                <a:latin typeface="Segoe UI"/>
              </a:rPr>
              <a:t>. NIST SP 800-61 Rev. 3. Gaithersburg, MD: National Institute of Standards and Technology. Available at: </a:t>
            </a:r>
            <a:r>
              <a:rPr sz="1100" b="0" i="0">
                <a:solidFill>
                  <a:srgbClr val="8FE3C0"/>
                </a:solidFill>
                <a:latin typeface="Segoe UI"/>
                <a:hlinkClick r:id="rId4"/>
              </a:rPr>
              <a:t>https://doi.org/10.6028/NIST.SP.800-61r3</a:t>
            </a:r>
            <a:r>
              <a:rPr sz="1100" b="0" i="0">
                <a:solidFill>
                  <a:srgbClr val="FFFFFF"/>
                </a:solidFill>
                <a:latin typeface="Segoe UI"/>
              </a:rPr>
              <a:t> (Accessed: 8 October 2026).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776472"/>
            <a:ext cx="365760" cy="65836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E3C0"/>
                </a:solidFill>
                <a:latin typeface="Segoe UI"/>
              </a:rPr>
              <a:t>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76472"/>
            <a:ext cx="10972800" cy="65836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Pascoe, C., Quinn, S. and Scarfone, K. (2024) </a:t>
            </a:r>
            <a:r>
              <a:rPr sz="1100" b="0" i="1">
                <a:solidFill>
                  <a:srgbClr val="FFFFFF"/>
                </a:solidFill>
                <a:latin typeface="Segoe UI"/>
              </a:rPr>
              <a:t>The NIST Cybersecurity Framework (CSF) 2.0</a:t>
            </a:r>
            <a:r>
              <a:rPr sz="1100" b="0" i="0">
                <a:solidFill>
                  <a:srgbClr val="FFFFFF"/>
                </a:solidFill>
                <a:latin typeface="Segoe UI"/>
              </a:rPr>
              <a:t>. NIST CSWP 29. Gaithersburg, MD: National Institute of Standards and Technology. Available at: </a:t>
            </a:r>
            <a:r>
              <a:rPr sz="1100" b="0" i="0">
                <a:solidFill>
                  <a:srgbClr val="8FE3C0"/>
                </a:solidFill>
                <a:latin typeface="Segoe UI"/>
                <a:hlinkClick r:id="rId5"/>
              </a:rPr>
              <a:t>https://doi.org/10.6028/NIST.CSWP.29</a:t>
            </a:r>
            <a:r>
              <a:rPr sz="1100" b="0" i="0">
                <a:solidFill>
                  <a:srgbClr val="FFFFFF"/>
                </a:solidFill>
                <a:latin typeface="Segoe UI"/>
              </a:rPr>
              <a:t> (Accessed: 8 October 2026).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434840"/>
            <a:ext cx="365760" cy="65836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E3C0"/>
                </a:solidFill>
                <a:latin typeface="Segoe UI"/>
              </a:rPr>
              <a:t>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34840"/>
            <a:ext cx="10972800" cy="65836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Republic of South Africa (2013) </a:t>
            </a:r>
            <a:r>
              <a:rPr sz="1100" b="0" i="1">
                <a:solidFill>
                  <a:srgbClr val="FFFFFF"/>
                </a:solidFill>
                <a:latin typeface="Segoe UI"/>
              </a:rPr>
              <a:t>Protection of Personal Information Act 4 of 2013</a:t>
            </a:r>
            <a:r>
              <a:rPr sz="1100" b="0" i="0">
                <a:solidFill>
                  <a:srgbClr val="FFFFFF"/>
                </a:solidFill>
                <a:latin typeface="Segoe UI"/>
              </a:rPr>
              <a:t>. Government Gazette No. 37067, 26 November. Pretoria: Government Printer. Available at: </a:t>
            </a:r>
            <a:r>
              <a:rPr sz="1100" b="0" i="0">
                <a:solidFill>
                  <a:srgbClr val="8FE3C0"/>
                </a:solidFill>
                <a:latin typeface="Segoe UI"/>
                <a:hlinkClick r:id="rId6"/>
              </a:rPr>
              <a:t>https://www.gov.za/documents/protection-personal-information-act</a:t>
            </a:r>
            <a:r>
              <a:rPr sz="1100" b="0" i="0">
                <a:solidFill>
                  <a:srgbClr val="FFFFFF"/>
                </a:solidFill>
                <a:latin typeface="Segoe UI"/>
              </a:rPr>
              <a:t> (Accessed: 8 October 2026).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093207"/>
            <a:ext cx="365760" cy="65836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E3C0"/>
                </a:solidFill>
                <a:latin typeface="Segoe UI"/>
              </a:rPr>
              <a:t>7.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93207"/>
            <a:ext cx="10972800" cy="65836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Scarfone, K. and Mell, P. (2007) </a:t>
            </a:r>
            <a:r>
              <a:rPr sz="1100" b="0" i="1">
                <a:solidFill>
                  <a:srgbClr val="FFFFFF"/>
                </a:solidFill>
                <a:latin typeface="Segoe UI"/>
              </a:rPr>
              <a:t>Guide to intrusion detection and prevention systems (IDPS)</a:t>
            </a:r>
            <a:r>
              <a:rPr sz="1100" b="0" i="0">
                <a:solidFill>
                  <a:srgbClr val="FFFFFF"/>
                </a:solidFill>
                <a:latin typeface="Segoe UI"/>
              </a:rPr>
              <a:t>. NIST SP 800-94. Gaithersburg, MD: National Institute of Standards and Technology. Available at: </a:t>
            </a:r>
            <a:r>
              <a:rPr sz="1100" b="0" i="0">
                <a:solidFill>
                  <a:srgbClr val="8FE3C0"/>
                </a:solidFill>
                <a:latin typeface="Segoe UI"/>
                <a:hlinkClick r:id="rId7"/>
              </a:rPr>
              <a:t>https://doi.org/10.6028/NIST.SP.800-94</a:t>
            </a:r>
            <a:r>
              <a:rPr sz="1100" b="0" i="0">
                <a:solidFill>
                  <a:srgbClr val="FFFFFF"/>
                </a:solidFill>
                <a:latin typeface="Segoe UI"/>
              </a:rPr>
              <a:t> (Accessed: 8 October 2026).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751575"/>
            <a:ext cx="365760" cy="65836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E3C0"/>
                </a:solidFill>
                <a:latin typeface="Segoe UI"/>
              </a:rPr>
              <a:t>8.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751575"/>
            <a:ext cx="10972800" cy="65836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Verizon (2025) </a:t>
            </a:r>
            <a:r>
              <a:rPr sz="1100" b="0" i="1">
                <a:solidFill>
                  <a:srgbClr val="FFFFFF"/>
                </a:solidFill>
                <a:latin typeface="Segoe UI"/>
              </a:rPr>
              <a:t>2025 data breach investigations report</a:t>
            </a:r>
            <a:r>
              <a:rPr sz="1100" b="0" i="0">
                <a:solidFill>
                  <a:srgbClr val="FFFFFF"/>
                </a:solidFill>
                <a:latin typeface="Segoe UI"/>
              </a:rPr>
              <a:t>. Available at: </a:t>
            </a:r>
            <a:r>
              <a:rPr sz="1100" b="0" i="0">
                <a:solidFill>
                  <a:srgbClr val="8FE3C0"/>
                </a:solidFill>
                <a:latin typeface="Segoe UI"/>
                <a:hlinkClick r:id="rId8"/>
              </a:rPr>
              <a:t>https://www.verizon.com/business/resources/reports/2025-dbir-data-breach-investigations-report.pdf</a:t>
            </a:r>
            <a:r>
              <a:rPr sz="1100" b="0" i="0">
                <a:solidFill>
                  <a:srgbClr val="FFFFFF"/>
                </a:solidFill>
                <a:latin typeface="Segoe UI"/>
              </a:rPr>
              <a:t> (Accessed: 8 October 2026). In the breaches analysed, use of stolen credentials was present in 22% and phishing in about 15%.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Phishing to Data Leak: Securing University Online Registration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